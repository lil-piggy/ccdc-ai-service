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70.xml"/><Relationship Id="rId1" Type="http://schemas.openxmlformats.org/officeDocument/2006/relationships/tags" Target="../tags/tag6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-1371600" y="4114800"/>
            <a:ext cx="3200400" cy="32004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8B5CFF"/>
          </a:solidFill>
          <a:ln w="12700">
            <a:solidFill>
              <a:srgbClr val="8B5CF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-10160" y="-2032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10515600" cy="2056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Vibe Coding</a:t>
            </a:r>
            <a:r>
              <a:rPr lang="zh-CN"/>
              <a:t>从入门到</a:t>
            </a:r>
            <a:r>
              <a:t>实战</a:t>
            </a:r>
          </a:p>
          <a:p>
            <a:pPr>
              <a:spcBef>
                <a:spcPts val="1000"/>
              </a:spcBef>
              <a:defRPr sz="3200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rPr lang="en-US" sz="2400" i="1"/>
              <a:t>--</a:t>
            </a:r>
            <a:r>
              <a:rPr sz="2400" i="1"/>
              <a:t>零代码搭建</a:t>
            </a:r>
            <a:r>
              <a:rPr lang="zh-CN" sz="2400" i="1"/>
              <a:t>自己的专属服务</a:t>
            </a:r>
            <a:r>
              <a:rPr i="1"/>
              <a:t> </a:t>
            </a:r>
            <a:endParaRPr i="1"/>
          </a:p>
          <a:p>
            <a:pPr>
              <a:spcBef>
                <a:spcPts val="1600"/>
              </a:spcBef>
              <a:defRPr sz="18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从想法到上线的 AI 应用开发新范式</a:t>
            </a:r>
            <a:r>
              <a:rPr lang="en-US"/>
              <a:t>——</a:t>
            </a:r>
            <a:r>
              <a:rPr lang="zh-CN" altLang="en-US"/>
              <a:t>你的</a:t>
            </a:r>
            <a:r>
              <a:rPr lang="en-US" altLang="zh-CN"/>
              <a:t>idea</a:t>
            </a:r>
            <a:r>
              <a:rPr lang="zh-CN" altLang="en-US"/>
              <a:t>就是最大的</a:t>
            </a:r>
            <a:r>
              <a:rPr lang="zh-CN" altLang="en-US"/>
              <a:t>生产力</a:t>
            </a:r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258810" y="5514975"/>
            <a:ext cx="12496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rPr lang="zh-CN"/>
              <a:t>分享人：</a:t>
            </a:r>
            <a:r>
              <a:rPr lang="zh-CN"/>
              <a:t>冯帆</a:t>
            </a:r>
            <a:endParaRPr lang="zh-CN"/>
          </a:p>
        </p:txBody>
      </p:sp>
      <p:sp>
        <p:nvSpPr>
          <p:cNvPr id="8" name="Rectangle 7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ounded Rectangle 16"/>
          <p:cNvSpPr/>
          <p:nvPr>
            <p:custDataLst>
              <p:tags r:id="rId1"/>
            </p:custDataLst>
          </p:nvPr>
        </p:nvSpPr>
        <p:spPr>
          <a:xfrm>
            <a:off x="8275320" y="1508760"/>
            <a:ext cx="3566160" cy="347472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2"/>
            </p:custDataLst>
          </p:nvPr>
        </p:nvSpPr>
        <p:spPr>
          <a:xfrm>
            <a:off x="4434840" y="1508760"/>
            <a:ext cx="3566160" cy="347472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>
            <p:custDataLst>
              <p:tags r:id="rId3"/>
            </p:custDataLst>
          </p:nvPr>
        </p:nvSpPr>
        <p:spPr>
          <a:xfrm>
            <a:off x="594360" y="1508760"/>
            <a:ext cx="3566160" cy="347472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议程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三个篇章，从理念到落地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822960" y="17373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0E5FF"/>
                </a:solidFill>
                <a:latin typeface="Segoe UI" panose="020B0502040204020203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822960" y="25146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理念篇</a:t>
            </a: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822960" y="30632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Vibe Coding 是什么、为什么、怎么做</a:t>
            </a: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4663440" y="17373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8B5CFF"/>
                </a:solidFill>
                <a:latin typeface="Segoe UI" panose="020B0502040204020203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4663440" y="25146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项目篇</a:t>
            </a:r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4663440" y="3063240"/>
            <a:ext cx="3108960" cy="78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rPr lang="zh-CN"/>
              <a:t>结合发行</a:t>
            </a:r>
            <a:r>
              <a:rPr lang="en-US" altLang="zh-CN"/>
              <a:t>AI</a:t>
            </a:r>
            <a:r>
              <a:rPr lang="zh-CN" altLang="en-US"/>
              <a:t>机器人小发项目</a:t>
            </a:r>
            <a:r>
              <a:t>架构、</a:t>
            </a:r>
            <a:r>
              <a:rPr lang="zh-CN"/>
              <a:t>梳理</a:t>
            </a:r>
            <a:r>
              <a:rPr lang="en-US" altLang="zh-CN"/>
              <a:t>ccdc-ai-service</a:t>
            </a:r>
            <a:r>
              <a:rPr lang="zh-CN" altLang="en-US"/>
              <a:t>整个项目结构的</a:t>
            </a:r>
            <a:r>
              <a:t>实现与演进</a:t>
            </a:r>
          </a:p>
        </p:txBody>
      </p:sp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8503920" y="17373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9500"/>
                </a:solidFill>
                <a:latin typeface="Segoe UI" panose="020B0502040204020203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8503920" y="25146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实战篇</a:t>
            </a: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8503920" y="30632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踩坑、经验、建议与未来展望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32120"/>
            <a:ext cx="109728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Rounded Rectangle 18"/>
          <p:cNvSpPr/>
          <p:nvPr>
            <p:custDataLst>
              <p:tags r:id="rId1"/>
            </p:custDataLst>
          </p:nvPr>
        </p:nvSpPr>
        <p:spPr>
          <a:xfrm>
            <a:off x="6309360" y="5029200"/>
            <a:ext cx="5486400" cy="13258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>
            <p:custDataLst>
              <p:tags r:id="rId2"/>
            </p:custDataLst>
          </p:nvPr>
        </p:nvSpPr>
        <p:spPr>
          <a:xfrm>
            <a:off x="594360" y="5029200"/>
            <a:ext cx="5486400" cy="13258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3"/>
            </p:custDataLst>
          </p:nvPr>
        </p:nvSpPr>
        <p:spPr>
          <a:xfrm>
            <a:off x="6309360" y="3520440"/>
            <a:ext cx="5486400" cy="13258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>
            <p:custDataLst>
              <p:tags r:id="rId4"/>
            </p:custDataLst>
          </p:nvPr>
        </p:nvSpPr>
        <p:spPr>
          <a:xfrm>
            <a:off x="594360" y="3520440"/>
            <a:ext cx="5486400" cy="13258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93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/>
              <a:t>AI</a:t>
            </a:r>
            <a:r>
              <a:rPr lang="zh-CN" altLang="en-US"/>
              <a:t>对传统编程</a:t>
            </a:r>
            <a:r>
              <a:rPr lang="zh-CN" altLang="en-US"/>
              <a:t>带来的变革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传统软件开发正在发生的范式转移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680" y="1409065"/>
            <a:ext cx="10972800" cy="3091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AI 大模型的代码生成能力</a:t>
            </a:r>
            <a:r>
              <a:rPr lang="zh-CN"/>
              <a:t>从抽象的</a:t>
            </a:r>
            <a:r>
              <a:rPr>
                <a:sym typeface="+mn-ea"/>
              </a:rPr>
              <a:t>『可</a:t>
            </a:r>
            <a:r>
              <a:rPr lang="zh-CN">
                <a:sym typeface="+mn-ea"/>
              </a:rPr>
              <a:t>参考</a:t>
            </a:r>
            <a:r>
              <a:rPr>
                <a:sym typeface="+mn-ea"/>
              </a:rPr>
              <a:t>』</a:t>
            </a:r>
            <a:r>
              <a:t>已达到『可用』水平：从片段补全到整文件</a:t>
            </a:r>
            <a:r>
              <a:rPr lang="zh-CN"/>
              <a:t>乃至整项目的自动</a:t>
            </a:r>
            <a:r>
              <a:t>生成</a:t>
            </a:r>
            <a:r>
              <a:rPr lang="zh-CN"/>
              <a:t>。</a:t>
            </a:r>
            <a:endParaRPr lang="zh-CN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rPr lang="zh-CN"/>
              <a:t>研究成果表明，</a:t>
            </a:r>
            <a:r>
              <a:rPr lang="en-US" altLang="zh-CN"/>
              <a:t>AI</a:t>
            </a:r>
            <a:r>
              <a:rPr lang="zh-CN" altLang="en-US"/>
              <a:t>对于代码生成的价值甚至能够高于一个</a:t>
            </a:r>
            <a:r>
              <a:rPr lang="en-US" altLang="zh-CN"/>
              <a:t>3-5</a:t>
            </a:r>
            <a:r>
              <a:rPr lang="zh-CN" altLang="en-US"/>
              <a:t>年的有经验开发者。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有经验开发者的价值正在迁移：从『写每一行代码』到『定义问题 + 设计架构 + 审查 AI 产出』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企业内部工具、原型验证、标准化模块的开发周期可以大幅缩短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rPr lang="zh-CN"/>
              <a:t>发行智能机器人【小发】服务正是依托于</a:t>
            </a:r>
            <a:r>
              <a:rPr lang="en-US" altLang="zh-CN"/>
              <a:t>vibe coding</a:t>
            </a:r>
            <a:r>
              <a:t>：</a:t>
            </a:r>
            <a:r>
              <a:rPr lang="zh-CN"/>
              <a:t>通过一个人</a:t>
            </a:r>
            <a:r>
              <a:t>用自然语言驱动，完成了前端、后端、数据库、AI 集成、Agent 设计</a:t>
            </a:r>
            <a:r>
              <a:rPr lang="zh-CN"/>
              <a:t>等一系列相关基础工作。</a:t>
            </a:r>
            <a:r>
              <a:rPr lang="en-US" altLang="zh-CN"/>
              <a:t>‘</a:t>
            </a:r>
            <a:endParaRPr lang="en-US" altLang="zh-CN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rPr lang="en-US" altLang="zh-CN"/>
              <a:t>AI</a:t>
            </a:r>
            <a:r>
              <a:rPr lang="zh-CN" altLang="en-US"/>
              <a:t>对于编码的准确度，正如国人对于汉语、英国人之于英语一样，让机器去挖掘底层的二进制编码正如吃饭喝水的母语一般稀松平常。</a:t>
            </a:r>
            <a:endParaRPr lang="en-US" altLang="zh-CN"/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endParaRPr lang="en-US" altLang="zh-CN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777240" y="3874135"/>
            <a:ext cx="120523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4D4F"/>
                </a:solidFill>
                <a:latin typeface="微软雅黑" panose="020B0503020204020204" charset="-122"/>
              </a:defRPr>
            </a:pPr>
          </a:p>
          <a:p>
            <a:pPr>
              <a:defRPr sz="1600" b="1">
                <a:solidFill>
                  <a:srgbClr val="FF4D4F"/>
                </a:solidFill>
                <a:latin typeface="微软雅黑" panose="020B0503020204020204" charset="-122"/>
              </a:defRPr>
            </a:pPr>
            <a:r>
              <a:t>重复性编码</a:t>
            </a: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777240" y="44043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CRUD、表单校验、路由模板占据大量时间，创造力被消耗在低价值劳动中</a:t>
            </a: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6492240" y="4110355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  <a:latin typeface="微软雅黑" panose="020B0503020204020204" charset="-122"/>
              </a:defRPr>
            </a:pPr>
            <a:r>
              <a:t>跨栈维护难</a:t>
            </a: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6491605" y="44043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前端 + 后端 + 数据库 + 部署，一人全栈时细节爆炸</a:t>
            </a:r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777240" y="51663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4D4F"/>
                </a:solidFill>
                <a:latin typeface="微软雅黑" panose="020B0503020204020204" charset="-122"/>
              </a:defRPr>
            </a:pPr>
            <a:r>
              <a:t>知识壁垒</a:t>
            </a:r>
          </a:p>
        </p:txBody>
      </p:sp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777240" y="55321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业务专家懂规则但不懂代码，技术专家懂代码但不懂金融业务</a:t>
            </a:r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6492240" y="51663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  <a:latin typeface="微软雅黑" panose="020B0503020204020204" charset="-122"/>
              </a:defRPr>
            </a:pPr>
            <a:r>
              <a:t>试错成本高</a:t>
            </a:r>
          </a:p>
        </p:txBody>
      </p:sp>
      <p:sp>
        <p:nvSpPr>
          <p:cNvPr id="21" name="TextBox 20"/>
          <p:cNvSpPr txBox="1"/>
          <p:nvPr>
            <p:custDataLst>
              <p:tags r:id="rId12"/>
            </p:custDataLst>
          </p:nvPr>
        </p:nvSpPr>
        <p:spPr>
          <a:xfrm>
            <a:off x="6492240" y="55321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传统模式下，一个想法从立项到 Demo 往往需要数周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93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何为</a:t>
            </a:r>
            <a:r>
              <a:t> Vibe Coding？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Describe, don't type</a:t>
            </a:r>
            <a:r>
              <a:rPr lang="en-US"/>
              <a:t>——</a:t>
            </a:r>
            <a:r>
              <a:rPr lang="zh-CN" altLang="en-US"/>
              <a:t>你的</a:t>
            </a:r>
            <a:r>
              <a:rPr lang="en-US" altLang="zh-CN"/>
              <a:t>Idea</a:t>
            </a:r>
            <a:r>
              <a:rPr lang="zh-CN" altLang="en-US"/>
              <a:t>就是最好的生产力</a:t>
            </a:r>
            <a: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56080"/>
            <a:ext cx="640080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Vibe Coding 指开发者用自然语言描述意图，由 AI 生成代码，开发者负责审查、调优与架构把控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它不是『不写代码』，而是把编码工作从『逐字符敲击』转变为『意图表达 + 质量审核』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成功的关键在于：清晰的上下文、可验证的目标、持续的反馈循环</a:t>
            </a:r>
            <a:r>
              <a:rPr lang="zh-CN"/>
              <a:t>。</a:t>
            </a:r>
            <a:endParaRPr lang="zh-CN"/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rPr lang="zh-CN"/>
              <a:t>让开发经理真正的成为</a:t>
            </a:r>
            <a:r>
              <a:rPr lang="en-US" altLang="zh-CN"/>
              <a:t>“</a:t>
            </a:r>
            <a:r>
              <a:rPr lang="zh-CN" altLang="en-US"/>
              <a:t>开发</a:t>
            </a:r>
            <a:r>
              <a:rPr lang="zh-CN" altLang="en-US"/>
              <a:t>精理</a:t>
            </a:r>
            <a:r>
              <a:rPr lang="en-US" altLang="zh-CN"/>
              <a:t>”</a:t>
            </a:r>
            <a:endParaRPr lang="en-US" altLang="zh-CN"/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适合：原型搭建、标准模块、工具类应用；不适合：强安全关键系统、未成熟的业务逻辑</a:t>
            </a:r>
          </a:p>
        </p:txBody>
      </p:sp>
      <p:sp>
        <p:nvSpPr>
          <p:cNvPr id="10" name="Oval 9"/>
          <p:cNvSpPr/>
          <p:nvPr>
            <p:custDataLst>
              <p:tags r:id="rId1"/>
            </p:custDataLst>
          </p:nvPr>
        </p:nvSpPr>
        <p:spPr>
          <a:xfrm>
            <a:off x="7315200" y="1234440"/>
            <a:ext cx="411480" cy="4114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2"/>
            </p:custDataLst>
          </p:nvPr>
        </p:nvSpPr>
        <p:spPr>
          <a:xfrm>
            <a:off x="7315200" y="12801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0B1F"/>
                </a:solidFill>
                <a:latin typeface="Segoe UI" panose="020B0502040204020203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7909560" y="12344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描述意图</a:t>
            </a:r>
          </a:p>
          <a:p>
            <a:pPr>
              <a:spcBef>
                <a:spcPts val="200"/>
              </a:spcBef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用自然语言说明想要什么</a:t>
            </a:r>
          </a:p>
        </p:txBody>
      </p:sp>
      <p:sp>
        <p:nvSpPr>
          <p:cNvPr id="13" name="Rectangle 12"/>
          <p:cNvSpPr/>
          <p:nvPr>
            <p:custDataLst>
              <p:tags r:id="rId4"/>
            </p:custDataLst>
          </p:nvPr>
        </p:nvSpPr>
        <p:spPr>
          <a:xfrm>
            <a:off x="7498079" y="1691640"/>
            <a:ext cx="36576" cy="320040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>
            <p:custDataLst>
              <p:tags r:id="rId5"/>
            </p:custDataLst>
          </p:nvPr>
        </p:nvSpPr>
        <p:spPr>
          <a:xfrm>
            <a:off x="7315200" y="2011680"/>
            <a:ext cx="411480" cy="41148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6"/>
            </p:custDataLst>
          </p:nvPr>
        </p:nvSpPr>
        <p:spPr>
          <a:xfrm>
            <a:off x="7315200" y="20574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0B1F"/>
                </a:solidFill>
                <a:latin typeface="Segoe UI" panose="020B0502040204020203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>
            <p:custDataLst>
              <p:tags r:id="rId7"/>
            </p:custDataLst>
          </p:nvPr>
        </p:nvSpPr>
        <p:spPr>
          <a:xfrm>
            <a:off x="7909560" y="20116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生成</a:t>
            </a:r>
          </a:p>
          <a:p>
            <a:pPr>
              <a:spcBef>
                <a:spcPts val="200"/>
              </a:spcBef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模型输出代码/配置/测试</a:t>
            </a:r>
          </a:p>
        </p:txBody>
      </p:sp>
      <p:sp>
        <p:nvSpPr>
          <p:cNvPr id="17" name="Rectangle 16"/>
          <p:cNvSpPr/>
          <p:nvPr>
            <p:custDataLst>
              <p:tags r:id="rId8"/>
            </p:custDataLst>
          </p:nvPr>
        </p:nvSpPr>
        <p:spPr>
          <a:xfrm>
            <a:off x="7498079" y="2468880"/>
            <a:ext cx="36576" cy="320040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>
            <p:custDataLst>
              <p:tags r:id="rId9"/>
            </p:custDataLst>
          </p:nvPr>
        </p:nvSpPr>
        <p:spPr>
          <a:xfrm>
            <a:off x="7315200" y="2788920"/>
            <a:ext cx="411480" cy="4114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7315200" y="283464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0B1F"/>
                </a:solidFill>
                <a:latin typeface="Segoe UI" panose="020B0502040204020203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7909560" y="278892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人审查</a:t>
            </a:r>
          </a:p>
          <a:p>
            <a:pPr>
              <a:spcBef>
                <a:spcPts val="200"/>
              </a:spcBef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检查正确性、安全性、可维护性</a:t>
            </a:r>
          </a:p>
        </p:txBody>
      </p:sp>
      <p:sp>
        <p:nvSpPr>
          <p:cNvPr id="21" name="Rectangle 20"/>
          <p:cNvSpPr/>
          <p:nvPr>
            <p:custDataLst>
              <p:tags r:id="rId12"/>
            </p:custDataLst>
          </p:nvPr>
        </p:nvSpPr>
        <p:spPr>
          <a:xfrm>
            <a:off x="7498079" y="3246120"/>
            <a:ext cx="36576" cy="320040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>
            <p:custDataLst>
              <p:tags r:id="rId13"/>
            </p:custDataLst>
          </p:nvPr>
        </p:nvSpPr>
        <p:spPr>
          <a:xfrm>
            <a:off x="7315200" y="3566160"/>
            <a:ext cx="411480" cy="41148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4"/>
            </p:custDataLst>
          </p:nvPr>
        </p:nvSpPr>
        <p:spPr>
          <a:xfrm>
            <a:off x="7315200" y="36118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0B1F"/>
                </a:solidFill>
                <a:latin typeface="Segoe UI" panose="020B0502040204020203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>
            <p:custDataLst>
              <p:tags r:id="rId15"/>
            </p:custDataLst>
          </p:nvPr>
        </p:nvSpPr>
        <p:spPr>
          <a:xfrm>
            <a:off x="7909560" y="35661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迭代调优</a:t>
            </a:r>
          </a:p>
          <a:p>
            <a:pPr>
              <a:spcBef>
                <a:spcPts val="200"/>
              </a:spcBef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补充上下文，修正偏差</a:t>
            </a:r>
          </a:p>
        </p:txBody>
      </p:sp>
      <p:sp>
        <p:nvSpPr>
          <p:cNvPr id="25" name="Rectangle 24"/>
          <p:cNvSpPr/>
          <p:nvPr>
            <p:custDataLst>
              <p:tags r:id="rId16"/>
            </p:custDataLst>
          </p:nvPr>
        </p:nvSpPr>
        <p:spPr>
          <a:xfrm>
            <a:off x="7498079" y="4023360"/>
            <a:ext cx="36576" cy="320040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>
            <p:custDataLst>
              <p:tags r:id="rId17"/>
            </p:custDataLst>
          </p:nvPr>
        </p:nvSpPr>
        <p:spPr>
          <a:xfrm>
            <a:off x="7315200" y="4343400"/>
            <a:ext cx="411480" cy="4114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18"/>
            </p:custDataLst>
          </p:nvPr>
        </p:nvSpPr>
        <p:spPr>
          <a:xfrm>
            <a:off x="7315200" y="43891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0B1F"/>
                </a:solidFill>
                <a:latin typeface="Segoe UI" panose="020B0502040204020203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>
            <p:custDataLst>
              <p:tags r:id="rId19"/>
            </p:custDataLst>
          </p:nvPr>
        </p:nvSpPr>
        <p:spPr>
          <a:xfrm>
            <a:off x="7909560" y="434340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集成上线</a:t>
            </a:r>
          </a:p>
          <a:p>
            <a:pPr>
              <a:spcBef>
                <a:spcPts val="200"/>
              </a:spcBef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嵌入项目，自动化验证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开发范式演进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从命令式到意图式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9" name="Rectangle 8"/>
          <p:cNvSpPr/>
          <p:nvPr>
            <p:custDataLst>
              <p:tags r:id="rId1"/>
            </p:custDataLst>
          </p:nvPr>
        </p:nvSpPr>
        <p:spPr>
          <a:xfrm>
            <a:off x="645795" y="2082800"/>
            <a:ext cx="10972800" cy="36576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>
            <p:custDataLst>
              <p:tags r:id="rId2"/>
            </p:custDataLst>
          </p:nvPr>
        </p:nvSpPr>
        <p:spPr>
          <a:xfrm>
            <a:off x="645795" y="1762760"/>
            <a:ext cx="640080" cy="640080"/>
          </a:xfrm>
          <a:prstGeom prst="ellipse">
            <a:avLst/>
          </a:prstGeom>
          <a:solidFill>
            <a:srgbClr val="8B9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462915" y="2585720"/>
            <a:ext cx="1371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命令式</a:t>
            </a: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462915" y="2951480"/>
            <a:ext cx="13716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B9EBA"/>
                </a:solidFill>
                <a:latin typeface="Segoe UI" panose="020B0502040204020203"/>
              </a:defRPr>
            </a:pPr>
            <a:r>
              <a:t>Imperative</a:t>
            </a:r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234315" y="3362960"/>
            <a:ext cx="182880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逐行告诉计算机怎么做</a:t>
            </a:r>
            <a:br/>
            <a:r>
              <a:t>汇编 / C / 早期脚本</a:t>
            </a:r>
          </a:p>
        </p:txBody>
      </p:sp>
      <p:sp>
        <p:nvSpPr>
          <p:cNvPr id="14" name="Oval 13"/>
          <p:cNvSpPr/>
          <p:nvPr>
            <p:custDataLst>
              <p:tags r:id="rId6"/>
            </p:custDataLst>
          </p:nvPr>
        </p:nvSpPr>
        <p:spPr>
          <a:xfrm>
            <a:off x="3434715" y="1762760"/>
            <a:ext cx="640080" cy="640080"/>
          </a:xfrm>
          <a:prstGeom prst="ellipse">
            <a:avLst/>
          </a:prstGeom>
          <a:solidFill>
            <a:srgbClr val="8B9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3251835" y="2585720"/>
            <a:ext cx="1371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声明式</a:t>
            </a: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3251835" y="2951480"/>
            <a:ext cx="13716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B9EBA"/>
                </a:solidFill>
                <a:latin typeface="Segoe UI" panose="020B0502040204020203"/>
              </a:defRPr>
            </a:pPr>
            <a:r>
              <a:t>Declarative</a:t>
            </a:r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3023235" y="3362960"/>
            <a:ext cx="182880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描述目标状态，框架执行</a:t>
            </a:r>
            <a:br/>
            <a:r>
              <a:t>SQL / React / 配置化</a:t>
            </a:r>
          </a:p>
        </p:txBody>
      </p:sp>
      <p:sp>
        <p:nvSpPr>
          <p:cNvPr id="18" name="Oval 17"/>
          <p:cNvSpPr/>
          <p:nvPr>
            <p:custDataLst>
              <p:tags r:id="rId10"/>
            </p:custDataLst>
          </p:nvPr>
        </p:nvSpPr>
        <p:spPr>
          <a:xfrm>
            <a:off x="6223635" y="1762760"/>
            <a:ext cx="640080" cy="64008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6040755" y="2585720"/>
            <a:ext cx="1371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低代码</a:t>
            </a: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6040755" y="2951480"/>
            <a:ext cx="13716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B9EBA"/>
                </a:solidFill>
                <a:latin typeface="Segoe UI" panose="020B0502040204020203"/>
              </a:defRPr>
            </a:pPr>
            <a:r>
              <a:t>Low-Code</a:t>
            </a:r>
          </a:p>
        </p:txBody>
      </p:sp>
      <p:sp>
        <p:nvSpPr>
          <p:cNvPr id="21" name="TextBox 20"/>
          <p:cNvSpPr txBox="1"/>
          <p:nvPr>
            <p:custDataLst>
              <p:tags r:id="rId13"/>
            </p:custDataLst>
          </p:nvPr>
        </p:nvSpPr>
        <p:spPr>
          <a:xfrm>
            <a:off x="5812155" y="3362960"/>
            <a:ext cx="182880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拖拽 + 配置 + 少量脚本</a:t>
            </a:r>
            <a:br/>
            <a:r>
              <a:t>快速表单、工作流</a:t>
            </a:r>
          </a:p>
        </p:txBody>
      </p:sp>
      <p:sp>
        <p:nvSpPr>
          <p:cNvPr id="22" name="Oval 21"/>
          <p:cNvSpPr/>
          <p:nvPr>
            <p:custDataLst>
              <p:tags r:id="rId14"/>
            </p:custDataLst>
          </p:nvPr>
        </p:nvSpPr>
        <p:spPr>
          <a:xfrm>
            <a:off x="9012555" y="1762760"/>
            <a:ext cx="640080" cy="6400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5"/>
            </p:custDataLst>
          </p:nvPr>
        </p:nvSpPr>
        <p:spPr>
          <a:xfrm>
            <a:off x="8829675" y="2585720"/>
            <a:ext cx="1371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意图式</a:t>
            </a:r>
          </a:p>
        </p:txBody>
      </p:sp>
      <p:sp>
        <p:nvSpPr>
          <p:cNvPr id="24" name="TextBox 23"/>
          <p:cNvSpPr txBox="1"/>
          <p:nvPr>
            <p:custDataLst>
              <p:tags r:id="rId16"/>
            </p:custDataLst>
          </p:nvPr>
        </p:nvSpPr>
        <p:spPr>
          <a:xfrm>
            <a:off x="8829675" y="2951480"/>
            <a:ext cx="13716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B9EBA"/>
                </a:solidFill>
                <a:latin typeface="Segoe UI" panose="020B0502040204020203"/>
              </a:defRPr>
            </a:pPr>
            <a:r>
              <a:t>Intent-Driven</a:t>
            </a:r>
          </a:p>
        </p:txBody>
      </p:sp>
      <p:sp>
        <p:nvSpPr>
          <p:cNvPr id="25" name="TextBox 24"/>
          <p:cNvSpPr txBox="1"/>
          <p:nvPr>
            <p:custDataLst>
              <p:tags r:id="rId17"/>
            </p:custDataLst>
          </p:nvPr>
        </p:nvSpPr>
        <p:spPr>
          <a:xfrm>
            <a:off x="8601075" y="3362960"/>
            <a:ext cx="182880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自然语言描述，AI 实现</a:t>
            </a:r>
            <a:br/>
            <a:r>
              <a:t>Vibe Coding /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120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Vibe Coding 不是凭空出现，而是软件开发抽象层级持续提升的必然结果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每一层抽象都伴随着质疑，但也释放了大量生产力；关键在于知道边界在哪里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Rounded Rectangle 21"/>
          <p:cNvSpPr/>
          <p:nvPr/>
        </p:nvSpPr>
        <p:spPr>
          <a:xfrm>
            <a:off x="594360" y="5120640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8B5CFF"/>
          </a:solidFill>
          <a:ln w="12700">
            <a:solidFill>
              <a:srgbClr val="8B5CF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项目全景：CCDC AI Service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代号『小发』——中债智能金融助手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业务场景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81912"/>
            <a:ext cx="5303520" cy="170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目标用户：债券承销商、固收研究员、发行机构业务人员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核心功能：债券定价预测、信用分析、募集说明书解读、宏观点评、收益率曲线分析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产品</a:t>
            </a:r>
            <a:r>
              <a:rPr lang="zh-CN"/>
              <a:t>原型</a:t>
            </a:r>
            <a:r>
              <a:t>：Web 单页应用 + REST API + 实时流式对话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部署目标：Render 免费版，零成本快速上线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B5CFF"/>
                </a:solidFill>
                <a:latin typeface="微软雅黑" panose="020B0503020204020204" charset="-122"/>
              </a:defRPr>
            </a:pPr>
            <a:r>
              <a:t>项目关键指标</a:t>
            </a:r>
          </a:p>
        </p:txBody>
      </p:sp>
      <p:sp>
        <p:nvSpPr>
          <p:cNvPr id="12" name="TextBox 11"/>
          <p:cNvSpPr txBox="1"/>
          <p:nvPr>
            <p:custDataLst>
              <p:tags r:id="rId1"/>
            </p:custDataLst>
          </p:nvPr>
        </p:nvSpPr>
        <p:spPr>
          <a:xfrm>
            <a:off x="6400800" y="1645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  <a:latin typeface="Segoe UI" panose="020B0502040204020203"/>
              </a:defRPr>
            </a:pPr>
            <a:r>
              <a:t>约 3700 行</a:t>
            </a:r>
          </a:p>
        </p:txBody>
      </p:sp>
      <p:sp>
        <p:nvSpPr>
          <p:cNvPr id="13" name="TextBox 12"/>
          <p:cNvSpPr txBox="1"/>
          <p:nvPr>
            <p:custDataLst>
              <p:tags r:id="rId2"/>
            </p:custDataLst>
          </p:nvPr>
        </p:nvSpPr>
        <p:spPr>
          <a:xfrm>
            <a:off x="7955279" y="168249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前端代码（纯 HTML/CSS/JS）</a:t>
            </a:r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6400800" y="21488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  <a:latin typeface="Segoe UI" panose="020B0502040204020203"/>
              </a:defRPr>
            </a:pPr>
            <a:r>
              <a:t>~600 行</a:t>
            </a:r>
          </a:p>
        </p:txBody>
      </p:sp>
      <p:sp>
        <p:nvSpPr>
          <p:cNvPr id="15" name="TextBox 14"/>
          <p:cNvSpPr txBox="1"/>
          <p:nvPr>
            <p:custDataLst>
              <p:tags r:id="rId4"/>
            </p:custDataLst>
          </p:nvPr>
        </p:nvSpPr>
        <p:spPr>
          <a:xfrm>
            <a:off x="7955279" y="218541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后端 Express 主服务</a:t>
            </a:r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6400800" y="26517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  <a:latin typeface="Segoe UI" panose="020B0502040204020203"/>
              </a:defRPr>
            </a:pPr>
            <a:r>
              <a:t>4 张表</a:t>
            </a: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7955279" y="268833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PostgreSQL：users/chats/configs/kb_docs</a:t>
            </a:r>
          </a:p>
        </p:txBody>
      </p:sp>
      <p:sp>
        <p:nvSpPr>
          <p:cNvPr id="18" name="TextBox 17"/>
          <p:cNvSpPr txBox="1"/>
          <p:nvPr>
            <p:custDataLst>
              <p:tags r:id="rId7"/>
            </p:custDataLst>
          </p:nvPr>
        </p:nvSpPr>
        <p:spPr>
          <a:xfrm>
            <a:off x="6400800" y="3154680"/>
            <a:ext cx="758190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  <a:latin typeface="Segoe UI" panose="020B0502040204020203"/>
              </a:defRPr>
            </a:pPr>
            <a:r>
              <a:rPr lang="zh-CN"/>
              <a:t>多</a:t>
            </a:r>
            <a:r>
              <a:t>模型</a:t>
            </a:r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7955279" y="3191256"/>
            <a:ext cx="356933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Kimi K2.6 + DeepSeek V4 Pro</a:t>
            </a:r>
            <a:r>
              <a:rPr lang="zh-CN"/>
              <a:t>双模型驱动</a:t>
            </a:r>
            <a:endParaRPr lang="zh-CN"/>
          </a:p>
          <a:p>
            <a:pPr>
              <a:defRPr sz="14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rPr lang="en-US" altLang="zh-CN"/>
              <a:t>+</a:t>
            </a:r>
            <a:r>
              <a:rPr lang="zh-CN" altLang="en-US"/>
              <a:t>多模型可</a:t>
            </a:r>
            <a:r>
              <a:rPr lang="zh-CN" altLang="en-US"/>
              <a:t>选配</a:t>
            </a:r>
            <a:endParaRPr lang="zh-CN" altLang="en-US"/>
          </a:p>
        </p:txBody>
      </p:sp>
      <p:sp>
        <p:nvSpPr>
          <p:cNvPr id="20" name="TextBox 19"/>
          <p:cNvSpPr txBox="1"/>
          <p:nvPr>
            <p:custDataLst>
              <p:tags r:id="rId9"/>
            </p:custDataLst>
          </p:nvPr>
        </p:nvSpPr>
        <p:spPr>
          <a:xfrm>
            <a:off x="6400800" y="36576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  <a:latin typeface="Segoe UI" panose="020B0502040204020203"/>
              </a:defRPr>
            </a:pPr>
            <a:r>
              <a:t>5+ 格式</a:t>
            </a:r>
          </a:p>
        </p:txBody>
      </p:sp>
      <p:sp>
        <p:nvSpPr>
          <p:cNvPr id="21" name="TextBox 20"/>
          <p:cNvSpPr txBox="1"/>
          <p:nvPr>
            <p:custDataLst>
              <p:tags r:id="rId10"/>
            </p:custDataLst>
          </p:nvPr>
        </p:nvSpPr>
        <p:spPr>
          <a:xfrm>
            <a:off x="7955279" y="369417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知识库支持 docx/pdf/图片 OCR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578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本项目不是 toy project，而是承载了真实业务诉求的完整 AI 应用：多用户、持久化、知识库、专家 Agent 一应俱全。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Rounded Rectangle 24"/>
          <p:cNvSpPr/>
          <p:nvPr/>
        </p:nvSpPr>
        <p:spPr>
          <a:xfrm>
            <a:off x="9601200" y="1417320"/>
            <a:ext cx="2148840" cy="32918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8B5CFF"/>
          </a:solidFill>
          <a:ln w="12700">
            <a:solidFill>
              <a:srgbClr val="8B5CF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系统架构：四层设计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清晰分层是 AI 项目可维护的关键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1234440"/>
            <a:ext cx="9601200" cy="868680"/>
          </a:xfrm>
          <a:prstGeom prst="roundRect">
            <a:avLst/>
          </a:prstGeom>
          <a:solidFill>
            <a:srgbClr val="1A3A5A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344168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表现层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35608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public/index.html</a:t>
            </a:r>
            <a:br/>
            <a:r>
              <a:t>单页应用 · 主题切换 · 历史会话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2286000"/>
            <a:ext cx="9601200" cy="868680"/>
          </a:xfrm>
          <a:prstGeom prst="roundRect">
            <a:avLst/>
          </a:prstGeom>
          <a:solidFill>
            <a:srgbClr val="1A4A5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395728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接入层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487168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Express + JWT/CORS</a:t>
            </a:r>
            <a:br/>
            <a:r>
              <a:t>REST API · SSE 流式 · 认证中间件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3337560"/>
            <a:ext cx="9601200" cy="868680"/>
          </a:xfrm>
          <a:prstGeom prst="roundRect">
            <a:avLst/>
          </a:prstGeom>
          <a:solidFill>
            <a:srgbClr val="1A5A5A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3447288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业务层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538728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对话 · 知识库 · Bond Codin</a:t>
            </a:r>
            <a:br/>
            <a:r>
              <a:t>配置管理 · 文件解析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389120"/>
            <a:ext cx="9601200" cy="868680"/>
          </a:xfrm>
          <a:prstGeom prst="roundRect">
            <a:avLst/>
          </a:prstGeom>
          <a:solidFill>
            <a:srgbClr val="1A5A4A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4498848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590288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PostgreSQL</a:t>
            </a:r>
            <a:br/>
            <a:r>
              <a:t>users / chats / configs / kb_docs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Segoe UI" panose="020B0502040204020203"/>
              </a:defRPr>
            </a:pPr>
            <a:r>
              <a:t>L1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514600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Segoe UI" panose="020B0502040204020203"/>
              </a:defRPr>
            </a:pPr>
            <a:r>
              <a:t>L2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566160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Segoe UI" panose="020B0502040204020203"/>
              </a:defRPr>
            </a:pPr>
            <a:r>
              <a:t>L3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617720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Segoe UI" panose="020B0502040204020203"/>
              </a:defRPr>
            </a:pPr>
            <a:r>
              <a:t>L4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1554480"/>
            <a:ext cx="1828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外部依赖</a:t>
            </a:r>
          </a:p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• Moonshot API</a:t>
            </a:r>
          </a:p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• DeepSeek API</a:t>
            </a:r>
          </a:p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• Render.com</a:t>
            </a:r>
          </a:p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• PostgreSQL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Rounded Rectangle 12"/>
          <p:cNvSpPr/>
          <p:nvPr/>
        </p:nvSpPr>
        <p:spPr>
          <a:xfrm>
            <a:off x="594360" y="4434840"/>
            <a:ext cx="10972800" cy="1554480"/>
          </a:xfrm>
          <a:prstGeom prst="roundRect">
            <a:avLst>
              <a:gd name="adj" fmla="val 5000"/>
            </a:avLst>
          </a:prstGeom>
          <a:solidFill>
            <a:srgbClr val="081022"/>
          </a:solidFill>
          <a:ln w="1270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8B5CFF"/>
          </a:solidFill>
          <a:ln w="12700">
            <a:solidFill>
              <a:srgbClr val="8B5CF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前端为何零框架？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public/index.html 的取舍与坚持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选择零框架的理由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81912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单文件即可承载完整 SPA，部署极简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无构建步骤，修改后立即刷新，迭代极快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对 Vibe Coding 友好：AI 生成单文件 HTML 的成功率高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避免 React/Vue 生态的版本冲突和构建配置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500"/>
                </a:solidFill>
                <a:latin typeface="微软雅黑" panose="020B0503020204020204" charset="-122"/>
              </a:defRPr>
            </a:pPr>
            <a:r>
              <a:t>带来的挑战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81912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状态管理需手写，3700 行代码中业务逻辑密集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组件复用靠函数封装，容易重复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没有类型系统，重构风险高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需要手动处理 XSS、事件委托等细节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44568"/>
            <a:ext cx="1069848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A5F3FC"/>
                </a:solidFill>
                <a:latin typeface="Consolas" panose="020B0609020204030204"/>
              </a:defRPr>
            </a:pPr>
            <a:r>
              <a:t>// 主题切换：纯 JS 操作 class 与 localStorage</a:t>
            </a:r>
            <a:br/>
            <a:r>
              <a:t>function loadTheme() {</a:t>
            </a:r>
            <a:br/>
            <a:r>
              <a:t>  const t = localStorage.getItem(THEME_KEY) || 'light';</a:t>
            </a:r>
            <a:br/>
            <a:r>
              <a:t>  document.body.classList.toggle('dark', t === 'dark');</a:t>
            </a:r>
            <a:br/>
            <a: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结论：对于 MVP 和内部工具，零框架可以显著降低认知负担；当复杂度超过临界点时，再引入框架。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Rounded Rectangle 24"/>
          <p:cNvSpPr/>
          <p:nvPr/>
        </p:nvSpPr>
        <p:spPr>
          <a:xfrm>
            <a:off x="594360" y="411480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081022"/>
          </a:solidFill>
          <a:ln w="1270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4343400"/>
            <a:ext cx="5166360" cy="658368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3566160"/>
            <a:ext cx="5166360" cy="658368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2788920"/>
            <a:ext cx="5166360" cy="658368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5166360" cy="658368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234440"/>
            <a:ext cx="5166360" cy="658368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8B5CFF"/>
          </a:solidFill>
          <a:ln w="12700">
            <a:solidFill>
              <a:srgbClr val="8B5CF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 Express 核心设计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轻量但完整的 API 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5760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路由分组：/api/auth、/api/chat、/api/history、/api/config、/api/kb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认证中间件：JWT 校验 + 用户数据隔离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统一错误处理：try/catch + 结构化错误响应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流式响应：/api/chat 使用 SSE 输出大模型结果，降低首字时延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Consolas" panose="020B0609020204030204"/>
              </a:defRPr>
            </a:pPr>
            <a:r>
              <a:t>POST /api/auth/register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0020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注册 + 确认密码校验 + bcrypt 哈希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03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Consolas" panose="020B0609020204030204"/>
              </a:defRPr>
            </a:pPr>
            <a:r>
              <a:t>POST /api/auth/login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3774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登录 + JWT 签发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880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Consolas" panose="020B0609020204030204"/>
              </a:defRPr>
            </a:pPr>
            <a:r>
              <a:t>POST /api/chat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15468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知识库检索 + SSE 流式代理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657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Consolas" panose="020B0609020204030204"/>
              </a:defRPr>
            </a:pPr>
            <a:r>
              <a:t>GET /api/history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93192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查询当前用户对话历史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434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Consolas" panose="020B0609020204030204"/>
              </a:defRPr>
            </a:pPr>
            <a:r>
              <a:t>POST /api/kb/upload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70916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docx/pdf/图片 OCR 入库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24528"/>
            <a:ext cx="1069848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A5F3FC"/>
                </a:solidFill>
                <a:latin typeface="Consolas" panose="020B0609020204030204"/>
              </a:defRPr>
            </a:pPr>
            <a:r>
              <a:t>// 认证中间件：统一校验 JWT</a:t>
            </a:r>
            <a:br/>
            <a:r>
              <a:t>function authMiddleware(req, res, next) {</a:t>
            </a:r>
            <a:br/>
            <a:r>
              <a:t>  const token = req.headers.authorization?.split(' ')[1];</a:t>
            </a:r>
            <a:br/>
            <a:r>
              <a:t>  if (!token) return res.status(401).json({ error: '未登录' });</a:t>
            </a:r>
            <a:br/>
            <a:r>
              <a:t>  try {</a:t>
            </a:r>
            <a:br/>
            <a:r>
              <a:t>    req.user = jwt.verify(token, JWT_SECRET);</a:t>
            </a:r>
            <a:br/>
            <a:r>
              <a:t>    next();</a:t>
            </a:r>
            <a:br/>
            <a:r>
              <a:t>  } catch { res.status(401).json({ error: '登录已过期' });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Rounded Rectangle 14"/>
          <p:cNvSpPr/>
          <p:nvPr/>
        </p:nvSpPr>
        <p:spPr>
          <a:xfrm>
            <a:off x="594360" y="4663440"/>
            <a:ext cx="10972800" cy="1234440"/>
          </a:xfrm>
          <a:prstGeom prst="roundRect">
            <a:avLst>
              <a:gd name="adj" fmla="val 5000"/>
            </a:avLst>
          </a:prstGeom>
          <a:solidFill>
            <a:srgbClr val="081022"/>
          </a:solidFill>
          <a:ln w="1270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8B5CFF"/>
          </a:solidFill>
          <a:ln w="12700">
            <a:solidFill>
              <a:srgbClr val="8B5CF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数据库迁移实战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SQLite → PostgreSQL 的决策与实现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4D4F"/>
                </a:solidFill>
                <a:latin typeface="微软雅黑" panose="020B0503020204020204" charset="-122"/>
              </a:defRPr>
            </a:pPr>
            <a:r>
              <a:t>为什么迁移？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81912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Render 免费版 Web Service 没有 Persistent Disk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实例休眠后本地 SQLite 文件丢失，用户注册、对话历史全部归零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PostgreSQL 作为独立托管服务，数据持久化且跨实例共享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pg 模块与 Node.js 生态集成成熟，迁移成本低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500"/>
                </a:solidFill>
                <a:latin typeface="微软雅黑" panose="020B0503020204020204" charset="-122"/>
              </a:defRPr>
            </a:pPr>
            <a:r>
              <a:t>SQLite 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10712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本地文件存储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单进程访问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零运维成本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适合本地开发/测试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632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PostgreSQL 阶段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10712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网络数据库服务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多并发连接池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Render 托管/自运维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适合生产/多实例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73168"/>
            <a:ext cx="10698480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A5F3FC"/>
                </a:solidFill>
                <a:latin typeface="Consolas" panose="020B0609020204030204"/>
              </a:defRPr>
            </a:pPr>
            <a:r>
              <a:t>const { Pool } = require('pg');</a:t>
            </a:r>
            <a:br/>
            <a:r>
              <a:t>const pool = new Pool({</a:t>
            </a:r>
            <a:br/>
            <a:r>
              <a:t>  connectionString: process.env.DATABASE_URL,</a:t>
            </a:r>
            <a:br/>
            <a:r>
              <a:t>  ssl: process.env.DATABASE_URL?.includes('render.com')</a:t>
            </a:r>
            <a:br/>
            <a:r>
              <a:t>       ? { rejectUnauthorized: false }</a:t>
            </a:r>
            <a:br/>
            <a:r>
              <a:t>       : false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ounded Rectangle 9"/>
          <p:cNvSpPr/>
          <p:nvPr/>
        </p:nvSpPr>
        <p:spPr>
          <a:xfrm>
            <a:off x="594360" y="2834640"/>
            <a:ext cx="10972800" cy="2194560"/>
          </a:xfrm>
          <a:prstGeom prst="roundRect">
            <a:avLst>
              <a:gd name="adj" fmla="val 5000"/>
            </a:avLst>
          </a:prstGeom>
          <a:solidFill>
            <a:srgbClr val="081022"/>
          </a:solidFill>
          <a:ln w="1270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8B5CFF"/>
          </a:solidFill>
          <a:ln w="12700">
            <a:solidFill>
              <a:srgbClr val="8B5CF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层多模型抽象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如何优雅对接多个大模型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业务需求：用户可在 Kimi K2.6 与 DeepSeek V4 Pro 之间切换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统一接口：后端兼容 OpenAI 风格的 /chat/completions 协议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配置化：通过 ADMIN_API_MODELS 环境变量定义模型列表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模型标识：kimi-k2.6|Kimi K2.6,deepseek-v4-pro|DeepSeek V4 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44368"/>
            <a:ext cx="10698480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A5F3FC"/>
                </a:solidFill>
                <a:latin typeface="Consolas" panose="020B0609020204030204"/>
              </a:defRPr>
            </a:pPr>
            <a:r>
              <a:t>function parseAdminModels() {</a:t>
            </a:r>
            <a:br/>
            <a:r>
              <a:t>  const raw = process.env.ADMIN_API_MODELS;</a:t>
            </a:r>
            <a:br/>
            <a:r>
              <a:t>  const models = raw ? raw.split(',') : [];</a:t>
            </a:r>
            <a:br/>
            <a:r>
              <a:t>  const parsed = models.map(m =&gt; {</a:t>
            </a:r>
            <a:br/>
            <a:r>
              <a:t>    const [id, name] = m.split('|');</a:t>
            </a:r>
            <a:br/>
            <a:r>
              <a:t>    return { id: id.trim(), name: (name || id).trim() };</a:t>
            </a:r>
            <a:br/>
            <a:r>
              <a:t>  });</a:t>
            </a:r>
            <a:br/>
            <a:r>
              <a:t>  // 兼容旧版：自动追加 deepseek-v4-pro</a:t>
            </a:r>
            <a:br/>
            <a:r>
              <a:t>  if (!parsed.find(m =&gt; m.id === 'deepseek-v4-pro')) {</a:t>
            </a:r>
            <a:br/>
            <a:r>
              <a:t>    parsed.push({ id: 'deepseek-v4-pro', name: 'DeepSeek V4 Pro' });</a:t>
            </a:r>
            <a:br/>
            <a:r>
              <a:t>  }</a:t>
            </a:r>
            <a:br/>
            <a:r>
              <a:t>  return parsed;</a:t>
            </a:r>
            <a:br/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257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设计收益：新增模型只需改环境变量，无需改动业务代码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注意点：不同模型对 temperature 等参数的支持存在差异，需统一为兼容值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8B5CFF"/>
          </a:solidFill>
          <a:ln w="12700">
            <a:solidFill>
              <a:srgbClr val="8B5CF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SSE 流式响应实现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降低首字时延，提升对话体验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为什么用 SSE：大模型生成长文本时，用户无需等待完整响应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前端 EventSource 逐段接收并渲染，呈现打字机效果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后端将上游模型返回的流直接透传，不做全量缓冲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异常处理：网络中断、模型超时、JSON 解析失败都需兜底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前端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3474720"/>
            <a:ext cx="18288" cy="2103120"/>
          </a:xfrm>
          <a:prstGeom prst="rect">
            <a:avLst/>
          </a:prstGeom>
          <a:solidFill>
            <a:srgbClr val="30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1546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Express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3474720"/>
            <a:ext cx="18288" cy="2103120"/>
          </a:xfrm>
          <a:prstGeom prst="rect">
            <a:avLst/>
          </a:prstGeom>
          <a:solidFill>
            <a:srgbClr val="30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39" y="31546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Moonshot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39" y="3474720"/>
            <a:ext cx="18288" cy="2103120"/>
          </a:xfrm>
          <a:prstGeom prst="rect">
            <a:avLst/>
          </a:prstGeom>
          <a:solidFill>
            <a:srgbClr val="30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25880" y="3675888"/>
            <a:ext cx="329184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35204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POST /api/chat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6360" y="4041648"/>
            <a:ext cx="3291839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38862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stream request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39" y="4407408"/>
            <a:ext cx="3291839" cy="54864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425196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chunk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4773168"/>
            <a:ext cx="3291840" cy="54864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461772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chunk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9639" y="5138928"/>
            <a:ext cx="3291839" cy="54864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49834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chunk 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流程：前端请求 → Express 鉴权 → 转发 Moonshot/DeepSeek → 流式 chunks 逐段回传 → 前端实时渲染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Rounded Rectangle 28"/>
          <p:cNvSpPr/>
          <p:nvPr/>
        </p:nvSpPr>
        <p:spPr>
          <a:xfrm>
            <a:off x="594360" y="452628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081022"/>
          </a:solidFill>
          <a:ln w="1270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98280" y="123444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123444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9000" y="123444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8B5CFF"/>
          </a:solidFill>
          <a:ln w="12700">
            <a:solidFill>
              <a:srgbClr val="8B5CF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知识库 RAG：让 AI 读懂企业文档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检索增强生成的项目实践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上传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docx / pdf / 图片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用户在前端选择文件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91840" y="2057400"/>
            <a:ext cx="256032" cy="164592"/>
          </a:xfrm>
          <a:prstGeom prst="rightArrow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1417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18745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文本/OCR 提取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37744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后端调用 docx/pdf/ocr 库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126480" y="2057400"/>
            <a:ext cx="256032" cy="164592"/>
          </a:xfrm>
          <a:prstGeom prst="rightArrow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417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存储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745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PostgreSQL kb_docs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37744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原始文本 + 提取内容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961120" y="2057400"/>
            <a:ext cx="256032" cy="164592"/>
          </a:xfrm>
          <a:prstGeom prst="rightArrow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14173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检索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18745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关键词匹配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37744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按查询词召回相关片段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RAG 的价值：把大模型从『通用知识』转变为『企业知识助手』，显著降低幻觉风险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636008"/>
            <a:ext cx="1069848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A5F3FC"/>
                </a:solidFill>
                <a:latin typeface="Consolas" panose="020B0609020204030204"/>
              </a:defRPr>
            </a:pPr>
            <a:r>
              <a:t>// 中文检索优化：按字拆分，英文按词拆分</a:t>
            </a:r>
            <a:br/>
            <a:r>
              <a:t>function tokenize(text) {</a:t>
            </a:r>
            <a:br/>
            <a:r>
              <a:t>  const zh = text.match(/[一-龥]/g) || [];</a:t>
            </a:r>
            <a:br/>
            <a:r>
              <a:t>  const en = text.toLowerCase().match(/[a-z0-9]+/g) || [];</a:t>
            </a:r>
            <a:br/>
            <a:r>
              <a:t>  return [...zh, ...en];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Rounded Rectangle 14"/>
          <p:cNvSpPr/>
          <p:nvPr/>
        </p:nvSpPr>
        <p:spPr>
          <a:xfrm>
            <a:off x="6309360" y="42062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102A15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42062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2A1515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8B5CFF"/>
          </a:solidFill>
          <a:ln w="12700">
            <a:solidFill>
              <a:srgbClr val="8B5CF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中文检索优化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分词策略直接影响 RAG 召回率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4D4F"/>
                </a:solidFill>
                <a:latin typeface="微软雅黑" panose="020B0503020204020204" charset="-122"/>
              </a:defRPr>
            </a:pPr>
            <a:r>
              <a:t>优化前：按空格分词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81912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将『债券发行定价』整体查询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仅匹配包含完整短语的文档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对 OCR 误差、同义词、口语化表达非常脆弱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漏召率高，AI 经常『不知道』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优化后：中文逐字 + 英文按词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81912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查询拆成 『债/券/发/行/定/价』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只要文档包含其中若干字即可命中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召回率显著提升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虽可能引入噪声，但对 RAG 场景利大于弊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891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原查询：'债券发行定价'</a:t>
            </a:r>
          </a:p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原分词：['债券发行定价']</a:t>
            </a:r>
          </a:p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问题：文档写『债券的发行与定价』就无法命中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3891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新查询：'债券发行定价'</a:t>
            </a:r>
          </a:p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新分词：['债','券','发','行','定','价']</a:t>
            </a:r>
          </a:p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效果：只要包含任意几个字，就会进入候选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Rounded Rectangle 15"/>
          <p:cNvSpPr/>
          <p:nvPr/>
        </p:nvSpPr>
        <p:spPr>
          <a:xfrm>
            <a:off x="8183880" y="315468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315468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315468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Agent 设计：Bond Codin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中债系统编程大师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Agent 三要素：角色（Role）、记忆（Memory）、工具（Tools）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Bond Codin 是面向中债科技业务领域的垂直 Agent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它融合架构师、代码审计专家、分布式改造顾问三种角色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核心使命：对中债系统代码进行架构分析、漏洞审计、改造建议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架构师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9476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Service/Logic/Mapper 三层架构评审，识别职责混乱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3756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审计专家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9476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发现 SQL 注入、空指针、并发风险、越权访问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33756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改造顾问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79476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给出云原生拆分、缓存引入、异步化、分库分表建议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入口设计：前端独立 Bond Codin 面板，支持代码编辑、语言选择、文件上传、历史会话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Rounded Rectangle 18"/>
          <p:cNvSpPr/>
          <p:nvPr/>
        </p:nvSpPr>
        <p:spPr>
          <a:xfrm>
            <a:off x="594360" y="5394960"/>
            <a:ext cx="10972800" cy="7772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4526280"/>
            <a:ext cx="10972800" cy="7772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3657600"/>
            <a:ext cx="10972800" cy="7772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2788920"/>
            <a:ext cx="10972800" cy="7772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Prompt Engineering 深度解析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Bond Codin 的提示词设计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Prompt 是 Vibe Coding 和 Agent 的核心交付物，决定了 AI 的行为边界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Bond Codin 的 system prompt 采用『角色 + 知识 + 约束 + 输出格式』四段式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通过环境变量注入，支持不修改代码即可调整专家行为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98648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角色定义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926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你是 Bond Codin，一位拥有 20 年经验的金融 IT 架构师……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67328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B5CFF"/>
                </a:solidFill>
                <a:latin typeface="微软雅黑" panose="020B0503020204020204" charset="-122"/>
              </a:defRPr>
            </a:pPr>
            <a:r>
              <a:t>知识体系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7947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精通 SIS-APP 三层架构、MyBatis、Spring Cloud、K8s……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36008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500"/>
                </a:solidFill>
                <a:latin typeface="微软雅黑" panose="020B0503020204020204" charset="-122"/>
              </a:defRPr>
            </a:pPr>
            <a:r>
              <a:t>输出约束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663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必须按风险等级标注：🔴严重 🟠高危 🟡中危 🟢建议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04688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格式规范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5321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问题定位 → 根因剖析 → 修复方案 → 架构影响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080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技巧：用少量示例（Few-shot）让模型理解中债业务语境，减少泛化错误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Rounded Rectangle 20"/>
          <p:cNvSpPr/>
          <p:nvPr/>
        </p:nvSpPr>
        <p:spPr>
          <a:xfrm>
            <a:off x="594360" y="4251960"/>
            <a:ext cx="10972800" cy="8686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3246120"/>
            <a:ext cx="10972800" cy="8686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240280"/>
            <a:ext cx="10972800" cy="8686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10972800" cy="8686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代码审计输出规范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Bond Codin 如何给出可落地的结论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1371600"/>
            <a:ext cx="109728" cy="5943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4416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1. 问题定位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371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指出代码行、函数、类，以及违反了哪条设计原则或规范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2377440"/>
            <a:ext cx="109728" cy="59436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2. 根因剖析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377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解释为什么这是问题：并发模型、数据流、权限边界、性能瓶颈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" y="3383280"/>
            <a:ext cx="109728" cy="59436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5584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3. 修复方案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3832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给出可直接修改的代码片段或重构步骤，标注风险等级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" y="4389120"/>
            <a:ext cx="109728" cy="594360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6168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4. 架构影响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3891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评估对 Service/Logic/Mapper 三层、数据库、接口契约的影响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价值：让 AI 输出从『泛泛而谈』变成『可执行的技术方案』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Rounded Rectangle 25"/>
          <p:cNvSpPr/>
          <p:nvPr/>
        </p:nvSpPr>
        <p:spPr>
          <a:xfrm>
            <a:off x="594360" y="4572000"/>
            <a:ext cx="10972800" cy="1463040"/>
          </a:xfrm>
          <a:prstGeom prst="roundRect">
            <a:avLst>
              <a:gd name="adj" fmla="val 5000"/>
            </a:avLst>
          </a:prstGeom>
          <a:solidFill>
            <a:srgbClr val="081022"/>
          </a:solidFill>
          <a:ln w="1270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3840480"/>
            <a:ext cx="5166360" cy="749808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2971800"/>
            <a:ext cx="5166360" cy="749808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103120"/>
            <a:ext cx="5166360" cy="749808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234440"/>
            <a:ext cx="5166360" cy="749808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文件上传与 OCR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多格式知识库接入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5669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业务诉求：用户上传募集说明书、审计报告、制度文件、代码截图等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技术实现：根据 MIME 类型分发不同解析器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docx：读取段落与表格文本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pdf：文本层抽取，复杂版式可结合 OCR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图片：OCR 提取后作为知识库文本存储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258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Segoe UI" panose="020B0502040204020203"/>
              </a:defRPr>
            </a:pPr>
            <a:r>
              <a:t>.docx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3258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docx 解析库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64592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段落、表格、页眉页脚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9456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Segoe UI" panose="020B0502040204020203"/>
              </a:defRPr>
            </a:pPr>
            <a:r>
              <a:t>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1945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pdf 解析库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5146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文本层、图片兜底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0632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Segoe UI" panose="020B0502040204020203"/>
              </a:defRPr>
            </a:pPr>
            <a:r>
              <a:t>.png/.jpg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063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OCR 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8328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代码截图、扫描件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319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Segoe UI" panose="020B0502040204020203"/>
              </a:defRPr>
            </a:pPr>
            <a:r>
              <a:t>.txt/.md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931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直接读取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2519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制度、规范文档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681728"/>
            <a:ext cx="1069848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A5F3FC"/>
                </a:solidFill>
                <a:latin typeface="Consolas" panose="020B0609020204030204"/>
              </a:defRPr>
            </a:pPr>
            <a:r>
              <a:t>async function handleKbUpload(file) {</a:t>
            </a:r>
            <a:br/>
            <a:r>
              <a:t>  const formData = new FormData();</a:t>
            </a:r>
            <a:br/>
            <a:r>
              <a:t>  formData.append('file', file);</a:t>
            </a:r>
            <a:br/>
            <a:r>
              <a:t>  const res = await fetch('/api/kb/upload', {</a:t>
            </a:r>
            <a:br/>
            <a:r>
              <a:t>    method: 'POST',</a:t>
            </a:r>
            <a:br/>
            <a:r>
              <a:t>    headers: { 'Authorization': 'Bearer ' + token },</a:t>
            </a:r>
            <a:br/>
            <a:r>
              <a:t>    body: formData</a:t>
            </a:r>
            <a:br/>
            <a:r>
              <a:t>  });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594360" y="1234440"/>
            <a:ext cx="10972800" cy="29260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Render 部署实战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免费版下的工程化权衡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659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用户浏览器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600200"/>
            <a:ext cx="2926080" cy="1188720"/>
          </a:xfrm>
          <a:prstGeom prst="roundRect">
            <a:avLst/>
          </a:prstGeom>
          <a:solidFill>
            <a:srgbClr val="1A3A6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Render Web Service</a:t>
            </a:r>
          </a:p>
          <a:p>
            <a:pPr algn="ctr">
              <a:defRPr sz="12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Node.js + Express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600200"/>
            <a:ext cx="2194560" cy="1188720"/>
          </a:xfrm>
          <a:prstGeom prst="roundRect">
            <a:avLst/>
          </a:prstGeom>
          <a:solidFill>
            <a:srgbClr val="1A4A4A"/>
          </a:solidFill>
          <a:ln w="1905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PostgreSQL</a:t>
            </a:r>
          </a:p>
          <a:p>
            <a:pPr algn="ctr">
              <a:defRPr sz="12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Render.com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1600200"/>
            <a:ext cx="1828800" cy="1188720"/>
          </a:xfrm>
          <a:prstGeom prst="roundRect">
            <a:avLst/>
          </a:prstGeom>
          <a:solidFill>
            <a:srgbClr val="3A1A6A"/>
          </a:solidFill>
          <a:ln w="19050">
            <a:solidFill>
              <a:srgbClr val="8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Moonshot /</a:t>
            </a:r>
          </a:p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DeepSeek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2148840"/>
            <a:ext cx="73152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23560" y="2148840"/>
            <a:ext cx="9144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32520" y="2148840"/>
            <a:ext cx="640080" cy="27432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3891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注意：免费 Web Service 会在 15 分钟无流量后休眠，首次请求有冷启动延迟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PostgreSQL 免费实例同样会休眠，但数据不会丢失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生产环境建议升级到付费实例或增加健康检查探针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render.yaml 定义了环境变量模板，不包含敏感值，便于团队协作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ounded Rectangle 16"/>
          <p:cNvSpPr/>
          <p:nvPr/>
        </p:nvSpPr>
        <p:spPr>
          <a:xfrm>
            <a:off x="594360" y="4251960"/>
            <a:ext cx="10972800" cy="13258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743200"/>
            <a:ext cx="10972800" cy="13258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10972800" cy="132588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4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FF4D4F"/>
          </a:solidFill>
          <a:ln w="12700">
            <a:solidFill>
              <a:srgbClr val="FF4D4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踩坑实录（一）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持久化与认证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4416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4D4F"/>
                </a:solidFill>
                <a:latin typeface="微软雅黑" panose="020B0503020204020204" charset="-122"/>
              </a:defRPr>
            </a:pPr>
            <a:r>
              <a:t>坑 1：Render 本地文件丢失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问题：免费 Web Service 无 Persistent Disk，SQLite 在实例休眠后清空，导致用户全部消失。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方案：迁移至 PostgreSQL，所有状态写入外部数据库。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5292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4D4F"/>
                </a:solidFill>
                <a:latin typeface="微软雅黑" panose="020B0503020204020204" charset="-122"/>
              </a:defRPr>
            </a:pPr>
            <a:r>
              <a:t>坑 2：JWT Secret 不稳定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问题：早期用随机字符串，每次部署后所有用户 Token 失效，被迫重新登录。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118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方案：将 JWT_SECRET 固定为环境变量，部署时保持不变。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6168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4D4F"/>
                </a:solidFill>
                <a:latin typeface="微软雅黑" panose="020B0503020204020204" charset="-122"/>
              </a:defRPr>
            </a:pPr>
            <a:r>
              <a:t>坑 3：密码明文 vs 哈希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问题：初期为快速验证未做 bcrypt，存在严重安全隐患。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206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方案：注册/登录统一使用 bcryptjs 加盐哈希。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Rounded Rectangle 20"/>
          <p:cNvSpPr/>
          <p:nvPr/>
        </p:nvSpPr>
        <p:spPr>
          <a:xfrm>
            <a:off x="594360" y="4663440"/>
            <a:ext cx="10972800" cy="10058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3520440"/>
            <a:ext cx="10972800" cy="10058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377440"/>
            <a:ext cx="10972800" cy="10058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10972800" cy="10058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4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FF4D4F"/>
          </a:solidFill>
          <a:ln w="12700">
            <a:solidFill>
              <a:srgbClr val="FF4D4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踩坑实录（二）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模型、检索与交互状态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07592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9500"/>
                </a:solidFill>
                <a:latin typeface="微软雅黑" panose="020B0503020204020204" charset="-122"/>
              </a:defRPr>
            </a:pPr>
            <a:r>
              <a:t>坑 4：模型参数不兼容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问题：某些模型对 temperature 取值范围敏感，调用报错。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600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方案：统一设置 temperature=1，屏蔽模型差异。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50592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9500"/>
                </a:solidFill>
                <a:latin typeface="微软雅黑" panose="020B0503020204020204" charset="-122"/>
              </a:defRPr>
            </a:pPr>
            <a:r>
              <a:t>坑 5：中文检索按空格分词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问题：RAG 召回率低，AI 回答『我不知道』。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743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方案：中文按字拆分，英文按词拆分，召回率显著提升。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93592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9500"/>
                </a:solidFill>
                <a:latin typeface="微软雅黑" panose="020B0503020204020204" charset="-122"/>
              </a:defRPr>
            </a:pPr>
            <a:r>
              <a:t>坑 6：Bond Codin 状态混乱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问题：普通对话与代码审计模式共用一套状态，切换时历史串台。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886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方案：引入 isBondCodinMode + mode='bondcodin' 字段，独立保存与恢复。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36592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9500"/>
                </a:solidFill>
                <a:latin typeface="微软雅黑" panose="020B0503020204020204" charset="-122"/>
              </a:defRPr>
            </a:pPr>
            <a:r>
              <a:t>坑 7：图片 OCR 文本质量差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29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问题：PDF 扫描件识别错误导致 RAG 噪声。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5029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方案：前端限制文件类型 + 后端记录原始文件名便于追溯。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4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FF4D4F"/>
          </a:solidFill>
          <a:ln w="12700">
            <a:solidFill>
              <a:srgbClr val="FF4D4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安全与边界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AI 应用必须守住的底线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26A"/>
                </a:solidFill>
                <a:latin typeface="微软雅黑" panose="020B0503020204020204" charset="-122"/>
              </a:defRPr>
            </a:pPr>
            <a:r>
              <a:t>已落地的安全措施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81912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JWT + bcrypt：接口全量鉴权，密码加盐哈希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用户数据隔离：所有查询都带 user_id 过滤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环境变量隔离：密钥不上传仓库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文件类型白名单：防止恶意文件上传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500"/>
                </a:solidFill>
                <a:latin typeface="微软雅黑" panose="020B0503020204020204" charset="-122"/>
              </a:defRPr>
            </a:pPr>
            <a:r>
              <a:t>仍需关注的边界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81912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模型幻觉：RAG 只能降低，无法根除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Prompt 注入：用户可能通过输入绕过角色约束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敏感数据：上传文档可能含内部信息，需审计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成本控制：API 调用按 token 计费，需限流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原则：AI 应用『先可用，再安全』，但安全不能无限期后置；特别是金融领域，合规与数据保护必须尽早纳入设计。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Rounded Rectangle 18"/>
          <p:cNvSpPr/>
          <p:nvPr/>
        </p:nvSpPr>
        <p:spPr>
          <a:xfrm>
            <a:off x="6309360" y="4480560"/>
            <a:ext cx="5486400" cy="114300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4480560"/>
            <a:ext cx="5486400" cy="114300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3154680"/>
            <a:ext cx="5486400" cy="114300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3154680"/>
            <a:ext cx="5486400" cy="114300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成本与性能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免费版下的现实约束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Render 免费版：Web Service + PostgreSQL 均免费，但都有休眠机制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大模型 API：按 token 计费，长对话和大知识库会显著增加成本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冷启动：实例休眠后首次请求延迟可达 10-30 秒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前端 SSE：流式输出提升体验，但不减少后端总 token 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会话缓存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历史对话摘要，减少重复上下文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9184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知识库切片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6576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只召回最相关的 Top-K 片段，降低 prompt 长度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心跳保活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834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定时 ping  health 接口，延缓实例休眠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617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降级策略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834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模型不可用时给出友好提示，而非直接报错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Rounded Rectangle 14"/>
          <p:cNvSpPr/>
          <p:nvPr/>
        </p:nvSpPr>
        <p:spPr>
          <a:xfrm>
            <a:off x="6309360" y="4480560"/>
            <a:ext cx="5486400" cy="10058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4480560"/>
            <a:ext cx="5486400" cy="1005840"/>
          </a:xfrm>
          <a:prstGeom prst="roundRect">
            <a:avLst>
              <a:gd name="adj" fmla="val 5000"/>
            </a:avLst>
          </a:prstGeom>
          <a:solidFill>
            <a:srgbClr val="141E3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3886200"/>
            <a:ext cx="5486400" cy="548640"/>
          </a:xfrm>
          <a:prstGeom prst="roundRect">
            <a:avLst>
              <a:gd name="adj" fmla="val 5000"/>
            </a:avLst>
          </a:prstGeom>
          <a:solidFill>
            <a:srgbClr val="4A1A1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3886200"/>
            <a:ext cx="5486400" cy="548640"/>
          </a:xfrm>
          <a:prstGeom prst="roundRect">
            <a:avLst>
              <a:gd name="adj" fmla="val 5000"/>
            </a:avLst>
          </a:prstGeom>
          <a:solidFill>
            <a:srgbClr val="1A4A4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给其他团队的建议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如何让 Vibe Coding 真正产生价值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从小处着手：先用 AI 生成工具脚本、单元测试、文档，建立信任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保留『人的审核』：AI 生成代码后必须经过 review，尤其是安全、事务、并发相关代码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做好上下文管理：给 AI 的 prompt 要包含足够的业务背景、代码路径、依赖关系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拆分任务：把大需求拆成多个小任务，每个任务独立验证，降低一次性返工风险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记录踩坑：把模型行为、部署问题、业务规则沉淀为团队知识库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76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适合 Vibe Coding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9776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不适合 Vibe 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177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原型/MVP、工具脚本、标准 CRUD、文档生成、测试用例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6177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核心交易逻辑、强合规模块、复杂并发控制、未稳定的需求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核心认知：Vibe Coding 是加速器，不是替代品；最终决定质量的还是开发者的判断力和架构能力。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未来演进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从单一 Agent 到智能体协作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MCP（Model Context Protocol）：标准化模型与外部工具/数据的交互协议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多 Agent 协作：不同领域的专家 Agent 分工完成复杂任务，例如研究 Agent + 审计 Agent + 报告 Agent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本地模型 + 云端混合：敏感代码/数据本地化推理，通用问答调用云端大模型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向量数据库：从关键词检索升级到语义检索，进一步提升 RAG 效果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AI 辅助编码工作流：从 Copilot 建议到自动化测试、文档、部署的全链路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257800"/>
            <a:ext cx="10972800" cy="36576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5029200"/>
            <a:ext cx="457200" cy="4572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6235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当前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9436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单 Agent · 关键词 RAG · Render 部署</a:t>
            </a:r>
          </a:p>
        </p:txBody>
      </p:sp>
      <p:sp>
        <p:nvSpPr>
          <p:cNvPr id="14" name="Oval 13"/>
          <p:cNvSpPr/>
          <p:nvPr/>
        </p:nvSpPr>
        <p:spPr>
          <a:xfrm>
            <a:off x="3840480" y="5029200"/>
            <a:ext cx="457200" cy="45720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56235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近期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9436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多模型路由 · 向量检索 · 会话摘要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0" y="5029200"/>
            <a:ext cx="457200" cy="45720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56235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中期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59436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多 Agent 协作 · MCP 工具链 · 本地模型</a:t>
            </a:r>
          </a:p>
        </p:txBody>
      </p:sp>
      <p:sp>
        <p:nvSpPr>
          <p:cNvPr id="20" name="Oval 19"/>
          <p:cNvSpPr/>
          <p:nvPr/>
        </p:nvSpPr>
        <p:spPr>
          <a:xfrm>
            <a:off x="9418320" y="5029200"/>
            <a:ext cx="457200" cy="457200"/>
          </a:xfrm>
          <a:prstGeom prst="ellipse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56235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远期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9436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企业知识中枢 · 自动化工作流 · 智能决策辅助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ounded Rectangle 9"/>
          <p:cNvSpPr/>
          <p:nvPr/>
        </p:nvSpPr>
        <p:spPr>
          <a:xfrm>
            <a:off x="594360" y="5120640"/>
            <a:ext cx="10972800" cy="1005840"/>
          </a:xfrm>
          <a:prstGeom prst="roundRect">
            <a:avLst>
              <a:gd name="adj" fmla="val 5000"/>
            </a:avLst>
          </a:prstGeom>
          <a:solidFill>
            <a:srgbClr val="1A3A5A"/>
          </a:solidFill>
          <a:ln w="12700">
            <a:solidFill>
              <a:srgbClr val="24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总结</a:t>
            </a:r>
          </a:p>
          <a:p>
            <a:pPr>
              <a:spcBef>
                <a:spcPts val="600"/>
              </a:spcBef>
              <a:defRPr sz="16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把 AI 当作放大器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Vibe Coding 不是不写代码，而是用自然语言驱动 AI 生成代码，开发者聚焦架构与质量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ccdc-ai-service 验证了一个完整 AI 应用可以在极少人力下快速落地：Express + 零框架前端 + PostgreSQL + 多模型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Agent 设计的关键：清晰的角色、可控的工具、结构化的输出、人的持续监督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企业级落地仍需关注：数据持久化、安全认证、模型边界、幻觉与成本控制</a:t>
            </a:r>
          </a:p>
          <a:p>
            <a:pPr>
              <a:spcAft>
                <a:spcPts val="1200"/>
              </a:spcAft>
              <a:defRPr sz="1500">
                <a:solidFill>
                  <a:srgbClr val="E6F7FF"/>
                </a:solidFill>
                <a:latin typeface="微软雅黑" panose="020B0503020204020204" charset="-122"/>
              </a:defRPr>
            </a:pPr>
            <a:r>
              <a:t>最重要的不是追逐热点，而是把 AI 嵌入到真实工作流中，解决具体问题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4924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"AI 不会取代程序员，但会用 AI 的程序员会取代不会用的。"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6858000" y="2011680"/>
            <a:ext cx="2743200" cy="2743200"/>
          </a:xfrm>
          <a:prstGeom prst="ellipse">
            <a:avLst/>
          </a:prstGeom>
          <a:solidFill>
            <a:srgbClr val="8B5CFF"/>
          </a:solidFill>
          <a:ln w="12700">
            <a:solidFill>
              <a:srgbClr val="8B5CF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0" y="1645920"/>
            <a:ext cx="4114800" cy="41148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lumMod val="80000"/>
                <a:lumOff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560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Q &amp; A</a:t>
            </a:r>
          </a:p>
          <a:p>
            <a:pPr algn="ctr">
              <a:spcBef>
                <a:spcPts val="1400"/>
              </a:spcBef>
              <a:defRPr sz="2200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欢迎交流与探讨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37960"/>
            <a:ext cx="10972800" cy="7315"/>
          </a:xfrm>
          <a:prstGeom prst="rect">
            <a:avLst/>
          </a:prstGeom>
          <a:solidFill>
            <a:srgbClr val="24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EBA"/>
                </a:solidFill>
                <a:latin typeface="微软雅黑" panose="020B0503020204020204" charset="-122"/>
              </a:defRPr>
            </a:pPr>
            <a:r>
              <a:t>CCDC AI Service · Vibe Coding 实战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E5FF"/>
                </a:solidFill>
                <a:latin typeface="微软雅黑" panose="020B0503020204020204" charset="-122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2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3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4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5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6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7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8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9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10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11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12.xml><?xml version="1.0" encoding="utf-8"?>
<p:tagLst xmlns:p="http://schemas.openxmlformats.org/presentationml/2006/main">
  <p:tag name="KSO_WM_DIAGRAM_VIRTUALLY_FRAME" val="{&quot;height&quot;:273.6,&quot;left&quot;:46.8,&quot;top&quot;:118.8,&quot;width&quot;:885.6}"/>
</p:tagLst>
</file>

<file path=ppt/tags/tag13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14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15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16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17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18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19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20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21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22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23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24.xml><?xml version="1.0" encoding="utf-8"?>
<p:tagLst xmlns:p="http://schemas.openxmlformats.org/presentationml/2006/main">
  <p:tag name="KSO_WM_DIAGRAM_VIRTUALLY_FRAME" val="{&quot;height&quot;:223.2,&quot;left&quot;:46.8,&quot;top&quot;:277.2,&quot;width&quot;:882}"/>
</p:tagLst>
</file>

<file path=ppt/tags/tag25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26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27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28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29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30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31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32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33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34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35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36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37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38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39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40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41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42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43.xml><?xml version="1.0" encoding="utf-8"?>
<p:tagLst xmlns:p="http://schemas.openxmlformats.org/presentationml/2006/main">
  <p:tag name="KSO_WM_DIAGRAM_VIRTUALLY_FRAME" val="{&quot;height&quot;:298.8,&quot;left&quot;:576,&quot;top&quot;:97.2,&quot;width&quot;:334.8}"/>
</p:tagLst>
</file>

<file path=ppt/tags/tag44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45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46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47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48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49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50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51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52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53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54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55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56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57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58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59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60.xml><?xml version="1.0" encoding="utf-8"?>
<p:tagLst xmlns:p="http://schemas.openxmlformats.org/presentationml/2006/main">
  <p:tag name="KSO_WM_DIAGRAM_VIRTUALLY_FRAME" val="{&quot;height&quot;:198,&quot;left&quot;:18.45,&quot;top&quot;:138.8,&quot;width&quot;:896.4}"/>
</p:tagLst>
</file>

<file path=ppt/tags/tag61.xml><?xml version="1.0" encoding="utf-8"?>
<p:tagLst xmlns:p="http://schemas.openxmlformats.org/presentationml/2006/main">
  <p:tag name="KSO_WM_DIAGRAM_VIRTUALLY_FRAME" val="{&quot;height&quot;:190.08,&quot;left&quot;:504,&quot;top&quot;:129.6,&quot;width&quot;:410.3999212598425}"/>
</p:tagLst>
</file>

<file path=ppt/tags/tag62.xml><?xml version="1.0" encoding="utf-8"?>
<p:tagLst xmlns:p="http://schemas.openxmlformats.org/presentationml/2006/main">
  <p:tag name="KSO_WM_DIAGRAM_VIRTUALLY_FRAME" val="{&quot;height&quot;:190.08,&quot;left&quot;:504,&quot;top&quot;:129.6,&quot;width&quot;:410.3999212598425}"/>
</p:tagLst>
</file>

<file path=ppt/tags/tag63.xml><?xml version="1.0" encoding="utf-8"?>
<p:tagLst xmlns:p="http://schemas.openxmlformats.org/presentationml/2006/main">
  <p:tag name="KSO_WM_DIAGRAM_VIRTUALLY_FRAME" val="{&quot;height&quot;:190.08,&quot;left&quot;:504,&quot;top&quot;:129.6,&quot;width&quot;:410.3999212598425}"/>
</p:tagLst>
</file>

<file path=ppt/tags/tag64.xml><?xml version="1.0" encoding="utf-8"?>
<p:tagLst xmlns:p="http://schemas.openxmlformats.org/presentationml/2006/main">
  <p:tag name="KSO_WM_DIAGRAM_VIRTUALLY_FRAME" val="{&quot;height&quot;:190.08,&quot;left&quot;:504,&quot;top&quot;:129.6,&quot;width&quot;:410.3999212598425}"/>
</p:tagLst>
</file>

<file path=ppt/tags/tag65.xml><?xml version="1.0" encoding="utf-8"?>
<p:tagLst xmlns:p="http://schemas.openxmlformats.org/presentationml/2006/main">
  <p:tag name="KSO_WM_DIAGRAM_VIRTUALLY_FRAME" val="{&quot;height&quot;:190.08,&quot;left&quot;:504,&quot;top&quot;:129.6,&quot;width&quot;:410.3999212598425}"/>
</p:tagLst>
</file>

<file path=ppt/tags/tag66.xml><?xml version="1.0" encoding="utf-8"?>
<p:tagLst xmlns:p="http://schemas.openxmlformats.org/presentationml/2006/main">
  <p:tag name="KSO_WM_DIAGRAM_VIRTUALLY_FRAME" val="{&quot;height&quot;:190.08,&quot;left&quot;:504,&quot;top&quot;:129.6,&quot;width&quot;:410.3999212598425}"/>
</p:tagLst>
</file>

<file path=ppt/tags/tag67.xml><?xml version="1.0" encoding="utf-8"?>
<p:tagLst xmlns:p="http://schemas.openxmlformats.org/presentationml/2006/main">
  <p:tag name="KSO_WM_DIAGRAM_VIRTUALLY_FRAME" val="{&quot;height&quot;:190.08,&quot;left&quot;:504,&quot;top&quot;:129.6,&quot;width&quot;:410.3999212598425}"/>
</p:tagLst>
</file>

<file path=ppt/tags/tag68.xml><?xml version="1.0" encoding="utf-8"?>
<p:tagLst xmlns:p="http://schemas.openxmlformats.org/presentationml/2006/main">
  <p:tag name="KSO_WM_DIAGRAM_VIRTUALLY_FRAME" val="{&quot;height&quot;:190.08,&quot;left&quot;:504,&quot;top&quot;:129.6,&quot;width&quot;:410.3999212598425}"/>
</p:tagLst>
</file>

<file path=ppt/tags/tag69.xml><?xml version="1.0" encoding="utf-8"?>
<p:tagLst xmlns:p="http://schemas.openxmlformats.org/presentationml/2006/main">
  <p:tag name="KSO_WM_DIAGRAM_VIRTUALLY_FRAME" val="{&quot;height&quot;:190.08,&quot;left&quot;:504,&quot;top&quot;:129.6,&quot;width&quot;:410.3999212598425}"/>
</p:tagLst>
</file>

<file path=ppt/tags/tag70.xml><?xml version="1.0" encoding="utf-8"?>
<p:tagLst xmlns:p="http://schemas.openxmlformats.org/presentationml/2006/main">
  <p:tag name="KSO_WM_DIAGRAM_VIRTUALLY_FRAME" val="{&quot;height&quot;:190.08,&quot;left&quot;:504,&quot;top&quot;:129.6,&quot;width&quot;:410.399921259842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9490</Words>
  <Application>WPS 演示</Application>
  <PresentationFormat>On-screen Show (4:3)</PresentationFormat>
  <Paragraphs>739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Arial</vt:lpstr>
      <vt:lpstr>宋体</vt:lpstr>
      <vt:lpstr>Wingdings</vt:lpstr>
      <vt:lpstr>Arial</vt:lpstr>
      <vt:lpstr>微软雅黑</vt:lpstr>
      <vt:lpstr>Segoe UI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冯帆</cp:lastModifiedBy>
  <cp:revision>7</cp:revision>
  <dcterms:created xsi:type="dcterms:W3CDTF">2013-01-27T09:14:00Z</dcterms:created>
  <dcterms:modified xsi:type="dcterms:W3CDTF">2026-06-24T01:15:22Z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0917DDB18EE8488A970A5FA1D36F0EDB_12</vt:lpwstr>
  </property>
</Properties>
</file>